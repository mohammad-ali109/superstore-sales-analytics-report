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86AB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Superstore Sales Analytics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Retail Performance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2024  ·  9,994 Transactions  ·  4 Regions  ·  3 Categories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73736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017520"/>
            <a:ext cx="1737360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90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$6.6M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3017520"/>
            <a:ext cx="173736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3017520"/>
            <a:ext cx="1737360" cy="640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3090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017520"/>
            <a:ext cx="173736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3017520"/>
            <a:ext cx="1737360" cy="64008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090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3017520"/>
            <a:ext cx="173736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3017520"/>
            <a:ext cx="1737360" cy="64008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090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7512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B3D0"/>
                </a:solidFill>
              </a:rPr>
              <a:t>Confidential · For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 Over Time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32004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28600" y="4114800"/>
            <a:ext cx="8686800" cy="82296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4114800"/>
            <a:ext cx="64008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13308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Q4 drives 28-35% of annual sales. The 3-month rolling average confirms an upward trend across all years. Year-on-year growth is most pronounced in 2023 and 2024.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Performance: Sales vs. Profit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5486400" cy="32004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943600" y="777240"/>
            <a:ext cx="29260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777240"/>
            <a:ext cx="64008" cy="9601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4"/>
          <p:cNvSpPr/>
          <p:nvPr/>
        </p:nvSpPr>
        <p:spPr>
          <a:xfrm>
            <a:off x="6080760" y="822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Technology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8076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$137K profit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 margin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1874520"/>
            <a:ext cx="29260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1874520"/>
            <a:ext cx="64008" cy="9601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8"/>
          <p:cNvSpPr/>
          <p:nvPr/>
        </p:nvSpPr>
        <p:spPr>
          <a:xfrm>
            <a:off x="6080760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Office Supplies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807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$69K profit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 margin ★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2971800"/>
            <a:ext cx="29260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971800"/>
            <a:ext cx="64008" cy="96012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3017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Furniture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076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-$193K loss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issue!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600" y="4114800"/>
            <a:ext cx="8686800" cy="822960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28600" y="4114800"/>
            <a:ext cx="64008" cy="82296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413308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ALERT: Furniture generates 40% of revenue but is the only loss-making category at -$193K. Despite high sales volume, heavy discounting destroys all profitability.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Overview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32004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28600" y="4114800"/>
            <a:ext cx="8686800" cy="82296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4114800"/>
            <a:ext cx="64008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13308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leads revenue at $2.14M. South delivers the best profit margin efficiency. East operates near break-even, suggesting pricing discipline issues. Central shows growth potential.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 vs. Profitability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8686800" cy="32004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28600" y="4114800"/>
            <a:ext cx="8686800" cy="82296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4114800"/>
            <a:ext cx="64008" cy="8229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13308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Critical Insight: The 20% discount threshold is a clear profit break-even point. Orders above 20% discount are consistently unprofitable across ALL categories. Enforcing a discount cap is the single highest-impact action available.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Sub-Category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5486400" cy="41148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943600" y="777240"/>
            <a:ext cx="2926080" cy="3657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777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234440"/>
            <a:ext cx="2926080" cy="34747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" name="Text 5"/>
          <p:cNvSpPr/>
          <p:nvPr/>
        </p:nvSpPr>
        <p:spPr>
          <a:xfrm>
            <a:off x="598932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Accessories  +$38.5K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1618488"/>
            <a:ext cx="2926080" cy="34747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16184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Phones  +$34.8K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002536"/>
            <a:ext cx="2926080" cy="34747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20025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Copiers  +$32.7K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2468880"/>
            <a:ext cx="2926080" cy="36576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PERFORMERS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2926080"/>
            <a:ext cx="2926080" cy="347472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6" name="Text 13"/>
          <p:cNvSpPr/>
          <p:nvPr/>
        </p:nvSpPr>
        <p:spPr>
          <a:xfrm>
            <a:off x="598932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Chairs  −$xxx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3310128"/>
            <a:ext cx="2926080" cy="347472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3310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Tables  −$xxx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3694176"/>
            <a:ext cx="2926080" cy="347472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20" name="Text 17"/>
          <p:cNvSpPr/>
          <p:nvPr/>
        </p:nvSpPr>
        <p:spPr>
          <a:xfrm>
            <a:off x="5989320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Bookcases  −$xxx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97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64008" cy="114300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87552"/>
            <a:ext cx="347472" cy="347472"/>
          </a:xfrm>
          <a:prstGeom prst="ellipse">
            <a:avLst/>
          </a:prstGeom>
          <a:solidFill>
            <a:srgbClr val="C73E1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9144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at 20% Companywide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29844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hard ceiling on discount rates. Require VP approval for exceptions. Estimated profit uplift: $50K+/yr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2121408"/>
            <a:ext cx="4297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21408"/>
            <a:ext cx="64008" cy="114300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" y="22128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Category Audit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" y="259689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supplier costs, pricing, and discount approvals for all Furniture lines. Engage category managers for 90-day turnaround plan.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3419856"/>
            <a:ext cx="4297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419856"/>
            <a:ext cx="64008" cy="1143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584448"/>
            <a:ext cx="347472" cy="34747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" y="35112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Office Supplies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" y="3895344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 category at 7.1%. Create bundles, cross-sell with Technology, and launch B2B campaigns.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822960"/>
            <a:ext cx="4297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822960"/>
            <a:ext cx="64008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98755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987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21808" y="9144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Marketing Push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21808" y="129844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Phones, Accessories &amp; Copiers. Allocate 25% more marketing budget and build Q4 inventory ahead of seasonal peak.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121408"/>
            <a:ext cx="4297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121408"/>
            <a:ext cx="64008" cy="11430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0" name="Shape 28"/>
          <p:cNvSpPr/>
          <p:nvPr/>
        </p:nvSpPr>
        <p:spPr>
          <a:xfrm>
            <a:off x="4892040" y="2286000"/>
            <a:ext cx="347472" cy="34747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21808" y="22128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KPIs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21808" y="259689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margin-based targets alongside revenue KPIs. East region managers need discount governance.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2E86A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Analytics Report · 2021–2024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Questions? Contact the Analytics 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9,994 transactions across 4 Regions · 3 Categories · 17 Sub-Categories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Analytics Report</dc:title>
  <dc:subject>PptxGenJS Presentation</dc:subject>
  <dc:creator>Analytics Team</dc:creator>
  <cp:lastModifiedBy>Analytics Team</cp:lastModifiedBy>
  <cp:revision>1</cp:revision>
  <dcterms:created xsi:type="dcterms:W3CDTF">2026-04-19T19:15:14Z</dcterms:created>
  <dcterms:modified xsi:type="dcterms:W3CDTF">2026-04-19T19:15:14Z</dcterms:modified>
</cp:coreProperties>
</file>